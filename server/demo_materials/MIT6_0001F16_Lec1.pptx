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WELCOME!</a:t>
            </a:r>
          </a:p>
          <a:p>
            <a:pPr>
              <a:spcAft>
                <a:spcPts val="400"/>
              </a:spcAft>
              <a:defRPr sz="1600"/>
            </a:pPr>
            <a:r>
              <a:t>(download slides and .py files and follow along!)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TODAY</a:t>
            </a:r>
          </a:p>
          <a:p>
            <a:pPr>
              <a:spcAft>
                <a:spcPts val="400"/>
              </a:spcAft>
              <a:defRPr sz="1600"/>
            </a:pPr>
            <a:r>
              <a:t>course info</a:t>
            </a:r>
          </a:p>
          <a:p>
            <a:pPr>
              <a:spcAft>
                <a:spcPts val="400"/>
              </a:spcAft>
              <a:defRPr sz="1600"/>
            </a:pPr>
            <a:r>
              <a:t>what is computation</a:t>
            </a:r>
          </a:p>
          <a:p>
            <a:pPr>
              <a:spcAft>
                <a:spcPts val="400"/>
              </a:spcAft>
              <a:defRPr sz="1600"/>
            </a:pPr>
            <a:r>
              <a:t>python basics</a:t>
            </a:r>
          </a:p>
          <a:p>
            <a:pPr>
              <a:spcAft>
                <a:spcPts val="400"/>
              </a:spcAft>
              <a:defRPr sz="1600"/>
            </a:pPr>
            <a:r>
              <a:t>mathematical operations</a:t>
            </a:r>
          </a:p>
          <a:p>
            <a:pPr>
              <a:spcAft>
                <a:spcPts val="400"/>
              </a:spcAft>
              <a:defRPr sz="1600"/>
            </a:pPr>
            <a:r>
              <a:t>python variables and types</a:t>
            </a:r>
          </a:p>
          <a:p>
            <a:pPr>
              <a:spcAft>
                <a:spcPts val="400"/>
              </a:spcAft>
              <a:defRPr sz="1600"/>
            </a:pPr>
            <a:r>
              <a:t>NOTE: slides and code files up before each lecture</a:t>
            </a:r>
          </a:p>
          <a:p>
            <a:pPr>
              <a:spcAft>
                <a:spcPts val="400"/>
              </a:spcAft>
              <a:defRPr sz="1600"/>
            </a:pPr>
            <a:r>
              <a:t>o highly encourage you to download them before lecture</a:t>
            </a:r>
          </a:p>
          <a:p>
            <a:pPr>
              <a:spcAft>
                <a:spcPts val="400"/>
              </a:spcAft>
              <a:defRPr sz="1600"/>
            </a:pPr>
            <a:r>
              <a:t>o take notes and run code files when I do</a:t>
            </a:r>
          </a:p>
          <a:p>
            <a:pPr>
              <a:spcAft>
                <a:spcPts val="400"/>
              </a:spcAft>
              <a:defRPr sz="1600"/>
            </a:pPr>
            <a:r>
              <a:t>o bring computers to answer in-class practice exercises!</a:t>
            </a:r>
          </a:p>
          <a:p>
            <a:pPr>
              <a:spcAft>
                <a:spcPts val="400"/>
              </a:spcAft>
              <a:defRPr sz="1600"/>
            </a:pPr>
            <a:r>
              <a:t>2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COURSE INFO</a:t>
            </a:r>
          </a:p>
          <a:p>
            <a:pPr>
              <a:spcAft>
                <a:spcPts val="400"/>
              </a:spcAft>
              <a:defRPr sz="1600"/>
            </a:pPr>
            <a:r>
              <a:t>Grading</a:t>
            </a:r>
          </a:p>
          <a:p>
            <a:pPr>
              <a:spcAft>
                <a:spcPts val="400"/>
              </a:spcAft>
              <a:defRPr sz="1600"/>
            </a:pPr>
            <a:r>
              <a:t>◦approx. 20%  Quiz</a:t>
            </a:r>
          </a:p>
          <a:p>
            <a:pPr>
              <a:spcAft>
                <a:spcPts val="400"/>
              </a:spcAft>
              <a:defRPr sz="1600"/>
            </a:pPr>
            <a:r>
              <a:t>◦approx. 40%  Final</a:t>
            </a:r>
          </a:p>
          <a:p>
            <a:pPr>
              <a:spcAft>
                <a:spcPts val="400"/>
              </a:spcAft>
              <a:defRPr sz="1600"/>
            </a:pPr>
            <a:r>
              <a:t>◦approx. 30%  Problem Sets</a:t>
            </a:r>
          </a:p>
          <a:p>
            <a:pPr>
              <a:spcAft>
                <a:spcPts val="400"/>
              </a:spcAft>
              <a:defRPr sz="1600"/>
            </a:pPr>
            <a:r>
              <a:t>◦approx. 10%  MITx Finger Exercises</a:t>
            </a:r>
          </a:p>
          <a:p>
            <a:pPr>
              <a:spcAft>
                <a:spcPts val="400"/>
              </a:spcAft>
              <a:defRPr sz="1600"/>
            </a:pPr>
            <a:r>
              <a:t>3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COURSE POLICIES</a:t>
            </a:r>
          </a:p>
          <a:p>
            <a:pPr>
              <a:spcAft>
                <a:spcPts val="400"/>
              </a:spcAft>
              <a:defRPr sz="1600"/>
            </a:pPr>
            <a:r>
              <a:t>Collaboration</a:t>
            </a:r>
          </a:p>
          <a:p>
            <a:pPr>
              <a:spcAft>
                <a:spcPts val="400"/>
              </a:spcAft>
              <a:defRPr sz="1600"/>
            </a:pPr>
            <a:r>
              <a:t>◦may collaborate with anyone</a:t>
            </a:r>
          </a:p>
          <a:p>
            <a:pPr>
              <a:spcAft>
                <a:spcPts val="400"/>
              </a:spcAft>
              <a:defRPr sz="1600"/>
            </a:pPr>
            <a:r>
              <a:t>◦required to write code independently and write names of</a:t>
            </a:r>
          </a:p>
          <a:p>
            <a:pPr>
              <a:spcAft>
                <a:spcPts val="400"/>
              </a:spcAft>
              <a:defRPr sz="1600"/>
            </a:pPr>
            <a:r>
              <a:t>all collaborators on submission</a:t>
            </a:r>
          </a:p>
          <a:p>
            <a:pPr>
              <a:spcAft>
                <a:spcPts val="400"/>
              </a:spcAft>
              <a:defRPr sz="1600"/>
            </a:pPr>
            <a:r>
              <a:t>◦we will be running a code similarity program on all psets</a:t>
            </a:r>
          </a:p>
          <a:p>
            <a:pPr>
              <a:spcAft>
                <a:spcPts val="400"/>
              </a:spcAft>
              <a:defRPr sz="1600"/>
            </a:pPr>
            <a:r>
              <a:t>Extensions</a:t>
            </a:r>
          </a:p>
          <a:p>
            <a:pPr>
              <a:spcAft>
                <a:spcPts val="400"/>
              </a:spcAft>
              <a:defRPr sz="1600"/>
            </a:pPr>
            <a:r>
              <a:t>◦no extensions</a:t>
            </a:r>
          </a:p>
          <a:p>
            <a:pPr>
              <a:spcAft>
                <a:spcPts val="400"/>
              </a:spcAft>
              <a:defRPr sz="1600"/>
            </a:pPr>
            <a:r>
              <a:t>◦late days, see course website for details</a:t>
            </a:r>
          </a:p>
          <a:p>
            <a:pPr>
              <a:spcAft>
                <a:spcPts val="400"/>
              </a:spcAft>
              <a:defRPr sz="1600"/>
            </a:pPr>
            <a:r>
              <a:t>◦drop and roll weight of max two psets in final exam grade</a:t>
            </a:r>
          </a:p>
          <a:p>
            <a:pPr>
              <a:spcAft>
                <a:spcPts val="400"/>
              </a:spcAft>
              <a:defRPr sz="1600"/>
            </a:pPr>
            <a:r>
              <a:t>◦should be EMERGENCY use only</a:t>
            </a:r>
          </a:p>
          <a:p>
            <a:pPr>
              <a:spcAft>
                <a:spcPts val="400"/>
              </a:spcAft>
              <a:defRPr sz="1600"/>
            </a:pPr>
            <a:r>
              <a:t>4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RECITATIONS</a:t>
            </a:r>
          </a:p>
          <a:p>
            <a:pPr>
              <a:spcAft>
                <a:spcPts val="400"/>
              </a:spcAft>
              <a:defRPr sz="1600"/>
            </a:pPr>
            <a:r>
              <a:t>not mandatory</a:t>
            </a:r>
          </a:p>
          <a:p>
            <a:pPr>
              <a:spcAft>
                <a:spcPts val="400"/>
              </a:spcAft>
              <a:defRPr sz="1600"/>
            </a:pPr>
            <a:r>
              <a:t>two flavors</a:t>
            </a:r>
          </a:p>
          <a:p>
            <a:pPr>
              <a:spcAft>
                <a:spcPts val="400"/>
              </a:spcAft>
              <a:defRPr sz="1600"/>
            </a:pPr>
            <a:r>
              <a:t>1) Lecture review: review lecture material</a:t>
            </a:r>
          </a:p>
          <a:p>
            <a:pPr>
              <a:spcAft>
                <a:spcPts val="400"/>
              </a:spcAft>
              <a:defRPr sz="1600"/>
            </a:pPr>
            <a:r>
              <a:t>o if you missed lecture</a:t>
            </a:r>
          </a:p>
          <a:p>
            <a:pPr>
              <a:spcAft>
                <a:spcPts val="400"/>
              </a:spcAft>
              <a:defRPr sz="1600"/>
            </a:pPr>
            <a:r>
              <a:t>o if you need a different take on the same concepts</a:t>
            </a:r>
          </a:p>
          <a:p>
            <a:pPr>
              <a:spcAft>
                <a:spcPts val="400"/>
              </a:spcAft>
              <a:defRPr sz="1600"/>
            </a:pPr>
            <a:r>
              <a:t>2) Problem solving: teach you how to solve programming</a:t>
            </a:r>
          </a:p>
          <a:p>
            <a:pPr>
              <a:spcAft>
                <a:spcPts val="400"/>
              </a:spcAft>
              <a:defRPr sz="1600"/>
            </a:pPr>
            <a:r>
              <a:t>problems</a:t>
            </a:r>
          </a:p>
          <a:p>
            <a:pPr>
              <a:spcAft>
                <a:spcPts val="400"/>
              </a:spcAft>
              <a:defRPr sz="1600"/>
            </a:pPr>
            <a:r>
              <a:t>o useful if you don’t know how to set up pseudocode from pset words</a:t>
            </a:r>
          </a:p>
          <a:p>
            <a:pPr>
              <a:spcAft>
                <a:spcPts val="400"/>
              </a:spcAft>
              <a:defRPr sz="1600"/>
            </a:pPr>
            <a:r>
              <a:t>o we show a couple of harder questions</a:t>
            </a:r>
          </a:p>
          <a:p>
            <a:pPr>
              <a:spcAft>
                <a:spcPts val="400"/>
              </a:spcAft>
              <a:defRPr sz="1600"/>
            </a:pPr>
            <a:r>
              <a:t>o walk you through how to approach solving the problem</a:t>
            </a:r>
          </a:p>
          <a:p>
            <a:pPr>
              <a:spcAft>
                <a:spcPts val="400"/>
              </a:spcAft>
              <a:defRPr sz="1600"/>
            </a:pPr>
            <a:r>
              <a:t>o brainstorm code solution along with the recitation instructor</a:t>
            </a:r>
          </a:p>
          <a:p>
            <a:pPr>
              <a:spcAft>
                <a:spcPts val="400"/>
              </a:spcAft>
              <a:defRPr sz="1600"/>
            </a:pPr>
            <a:r>
              <a:t>o will post solutions after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FAST PACED COURSE</a:t>
            </a:r>
          </a:p>
          <a:p>
            <a:pPr>
              <a:spcAft>
                <a:spcPts val="400"/>
              </a:spcAft>
              <a:defRPr sz="1600"/>
            </a:pPr>
            <a:r>
              <a:t>Position yourself to succeed!</a:t>
            </a:r>
          </a:p>
          <a:p>
            <a:pPr>
              <a:spcAft>
                <a:spcPts val="400"/>
              </a:spcAft>
              <a:defRPr sz="1600"/>
            </a:pPr>
            <a:r>
              <a:t>◦read psets when they come out and come back to them later</a:t>
            </a:r>
          </a:p>
          <a:p>
            <a:pPr>
              <a:spcAft>
                <a:spcPts val="400"/>
              </a:spcAft>
              <a:defRPr sz="1600"/>
            </a:pPr>
            <a:r>
              <a:t>◦use late days in emergency situations</a:t>
            </a:r>
          </a:p>
          <a:p>
            <a:pPr>
              <a:spcAft>
                <a:spcPts val="400"/>
              </a:spcAft>
              <a:defRPr sz="1600"/>
            </a:pPr>
            <a:r>
              <a:t>New to programming? PRACTICE. PRACTICE? PRACTICE!</a:t>
            </a:r>
          </a:p>
          <a:p>
            <a:pPr>
              <a:spcAft>
                <a:spcPts val="400"/>
              </a:spcAft>
              <a:defRPr sz="1600"/>
            </a:pPr>
            <a:r>
              <a:t>◦can’t passively absorb programming as a skill</a:t>
            </a:r>
          </a:p>
          <a:p>
            <a:pPr>
              <a:spcAft>
                <a:spcPts val="400"/>
              </a:spcAft>
              <a:defRPr sz="1600"/>
            </a:pPr>
            <a:r>
              <a:t>◦download code before lecture and follow along</a:t>
            </a:r>
          </a:p>
          <a:p>
            <a:pPr>
              <a:spcAft>
                <a:spcPts val="400"/>
              </a:spcAft>
              <a:defRPr sz="1600"/>
            </a:pPr>
            <a:r>
              <a:t>◦do MITx finger exercises</a:t>
            </a:r>
          </a:p>
          <a:p>
            <a:pPr>
              <a:spcAft>
                <a:spcPts val="400"/>
              </a:spcAft>
              <a:defRPr sz="1600"/>
            </a:pPr>
            <a:r>
              <a:t>◦don’t be afraid to try out Python commands!</a:t>
            </a:r>
          </a:p>
          <a:p>
            <a:pPr>
              <a:spcAft>
                <a:spcPts val="400"/>
              </a:spcAft>
              <a:defRPr sz="1600"/>
            </a:pPr>
            <a:r>
              <a:t>6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PRACTICE</a:t>
            </a:r>
          </a:p>
          <a:p>
            <a:pPr>
              <a:spcAft>
                <a:spcPts val="400"/>
              </a:spcAft>
              <a:defRPr sz="1600"/>
            </a:pPr>
            <a:r>
              <a:t>7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PROBLEM</a:t>
            </a:r>
          </a:p>
          <a:p>
            <a:pPr>
              <a:spcAft>
                <a:spcPts val="400"/>
              </a:spcAft>
              <a:defRPr sz="1600"/>
            </a:pPr>
            <a:r>
              <a:t>SOLVING</a:t>
            </a:r>
          </a:p>
          <a:p>
            <a:pPr>
              <a:spcAft>
                <a:spcPts val="400"/>
              </a:spcAft>
              <a:defRPr sz="1600"/>
            </a:pPr>
            <a:r>
              <a:t>PROGRAMMING</a:t>
            </a:r>
          </a:p>
          <a:p>
            <a:pPr>
              <a:spcAft>
                <a:spcPts val="400"/>
              </a:spcAft>
              <a:defRPr sz="1600"/>
            </a:pPr>
            <a:r>
              <a:t>SKILL</a:t>
            </a:r>
          </a:p>
          <a:p>
            <a:pPr>
              <a:spcAft>
                <a:spcPts val="400"/>
              </a:spcAft>
              <a:defRPr sz="1600"/>
            </a:pPr>
            <a:r>
              <a:t>KNOWLEDGE</a:t>
            </a:r>
          </a:p>
          <a:p>
            <a:pPr>
              <a:spcAft>
                <a:spcPts val="400"/>
              </a:spcAft>
              <a:defRPr sz="1600"/>
            </a:pPr>
            <a:r>
              <a:t>OF CONCEPTS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TOPICS</a:t>
            </a:r>
          </a:p>
          <a:p>
            <a:pPr>
              <a:spcAft>
                <a:spcPts val="400"/>
              </a:spcAft>
              <a:defRPr sz="1600"/>
            </a:pPr>
            <a:r>
              <a:t>represent knowledge with data structures</a:t>
            </a:r>
          </a:p>
          <a:p>
            <a:pPr>
              <a:spcAft>
                <a:spcPts val="400"/>
              </a:spcAft>
              <a:defRPr sz="1600"/>
            </a:pPr>
            <a:r>
              <a:t>iteration and recursion as computational metaphors</a:t>
            </a:r>
          </a:p>
          <a:p>
            <a:pPr>
              <a:spcAft>
                <a:spcPts val="400"/>
              </a:spcAft>
              <a:defRPr sz="1600"/>
            </a:pPr>
            <a:r>
              <a:t>abstraction of procedures and data types</a:t>
            </a:r>
          </a:p>
          <a:p>
            <a:pPr>
              <a:spcAft>
                <a:spcPts val="400"/>
              </a:spcAft>
              <a:defRPr sz="1600"/>
            </a:pPr>
            <a:r>
              <a:t>organize and modularize systems using object classes</a:t>
            </a:r>
          </a:p>
          <a:p>
            <a:pPr>
              <a:spcAft>
                <a:spcPts val="400"/>
              </a:spcAft>
              <a:defRPr sz="1600"/>
            </a:pPr>
            <a:r>
              <a:t>and methods</a:t>
            </a:r>
          </a:p>
          <a:p>
            <a:pPr>
              <a:spcAft>
                <a:spcPts val="400"/>
              </a:spcAft>
              <a:defRPr sz="1600"/>
            </a:pPr>
            <a:r>
              <a:t>different classes of algorithms, searching and sorting</a:t>
            </a:r>
          </a:p>
          <a:p>
            <a:pPr>
              <a:spcAft>
                <a:spcPts val="400"/>
              </a:spcAft>
              <a:defRPr sz="1600"/>
            </a:pPr>
            <a:r>
              <a:t>complexity of algorithms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WHAT DOES A COMPUTER DO</a:t>
            </a:r>
          </a:p>
          <a:p>
            <a:pPr>
              <a:spcAft>
                <a:spcPts val="400"/>
              </a:spcAft>
              <a:defRPr sz="1600"/>
            </a:pPr>
            <a:r>
              <a:t>Fundamentally:</a:t>
            </a:r>
          </a:p>
          <a:p>
            <a:pPr>
              <a:spcAft>
                <a:spcPts val="400"/>
              </a:spcAft>
              <a:defRPr sz="1600"/>
            </a:pPr>
            <a:r>
              <a:t>◦performs calculations</a:t>
            </a:r>
          </a:p>
          <a:p>
            <a:pPr>
              <a:spcAft>
                <a:spcPts val="400"/>
              </a:spcAft>
              <a:defRPr sz="1600"/>
            </a:pPr>
            <a:r>
              <a:t>a billion calculations per second!</a:t>
            </a:r>
          </a:p>
          <a:p>
            <a:pPr>
              <a:spcAft>
                <a:spcPts val="400"/>
              </a:spcAft>
              <a:defRPr sz="1600"/>
            </a:pPr>
            <a:r>
              <a:t>◦remembers results</a:t>
            </a:r>
          </a:p>
          <a:p>
            <a:pPr>
              <a:spcAft>
                <a:spcPts val="400"/>
              </a:spcAft>
              <a:defRPr sz="1600"/>
            </a:pPr>
            <a:r>
              <a:t>100s of gigabytes of storage!</a:t>
            </a:r>
          </a:p>
          <a:p>
            <a:pPr>
              <a:spcAft>
                <a:spcPts val="400"/>
              </a:spcAft>
              <a:defRPr sz="1600"/>
            </a:pPr>
            <a:r>
              <a:t>What kinds of calculations?</a:t>
            </a:r>
          </a:p>
          <a:p>
            <a:pPr>
              <a:spcAft>
                <a:spcPts val="400"/>
              </a:spcAft>
              <a:defRPr sz="1600"/>
            </a:pPr>
            <a:r>
              <a:t>◦built-in to the language</a:t>
            </a:r>
          </a:p>
          <a:p>
            <a:pPr>
              <a:spcAft>
                <a:spcPts val="400"/>
              </a:spcAft>
              <a:defRPr sz="1600"/>
            </a:pPr>
            <a:r>
              <a:t>◦ones that you define as the programmer</a:t>
            </a:r>
          </a:p>
          <a:p>
            <a:pPr>
              <a:spcAft>
                <a:spcPts val="400"/>
              </a:spcAft>
              <a:defRPr sz="1600"/>
            </a:pPr>
            <a:r>
              <a:t>computers only know what you tell them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TYPES OF KNOWLEDGE</a:t>
            </a:r>
          </a:p>
          <a:p>
            <a:pPr>
              <a:spcAft>
                <a:spcPts val="400"/>
              </a:spcAft>
              <a:defRPr sz="1600"/>
            </a:pPr>
            <a:r>
              <a:t>declarative knowledge is statements of fact.</a:t>
            </a:r>
          </a:p>
          <a:p>
            <a:pPr>
              <a:spcAft>
                <a:spcPts val="400"/>
              </a:spcAft>
              <a:defRPr sz="1600"/>
            </a:pPr>
            <a:r>
              <a:t>◦someone will win a Google</a:t>
            </a:r>
          </a:p>
          <a:p>
            <a:pPr>
              <a:spcAft>
                <a:spcPts val="400"/>
              </a:spcAft>
              <a:defRPr sz="1600"/>
            </a:pPr>
            <a:r>
              <a:t>Cardboard before class ends</a:t>
            </a:r>
          </a:p>
          <a:p>
            <a:pPr>
              <a:spcAft>
                <a:spcPts val="400"/>
              </a:spcAft>
              <a:defRPr sz="1600"/>
            </a:pPr>
            <a:r>
              <a:t>imperative knowledge is a recipe or “how-to”.</a:t>
            </a:r>
          </a:p>
          <a:p>
            <a:pPr>
              <a:spcAft>
                <a:spcPts val="400"/>
              </a:spcAft>
              <a:defRPr sz="1600"/>
            </a:pPr>
            <a:r>
              <a:t>1) Students sign up for raffle</a:t>
            </a:r>
          </a:p>
          <a:p>
            <a:pPr>
              <a:spcAft>
                <a:spcPts val="400"/>
              </a:spcAft>
              <a:defRPr sz="1600"/>
            </a:pPr>
            <a:r>
              <a:t>2) Ana opens her IDE</a:t>
            </a:r>
          </a:p>
          <a:p>
            <a:pPr>
              <a:spcAft>
                <a:spcPts val="400"/>
              </a:spcAft>
              <a:defRPr sz="1600"/>
            </a:pPr>
            <a:r>
              <a:t>3) Ana chooses a random number between 1st and nth responder</a:t>
            </a:r>
          </a:p>
          <a:p>
            <a:pPr>
              <a:spcAft>
                <a:spcPts val="400"/>
              </a:spcAft>
              <a:defRPr sz="1600"/>
            </a:pPr>
            <a:r>
              <a:t>4) Ana finds the number in the responders sheet. Winner!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 NUMERICAL EXAMPLE</a:t>
            </a:r>
          </a:p>
          <a:p>
            <a:pPr>
              <a:spcAft>
                <a:spcPts val="400"/>
              </a:spcAft>
              <a:defRPr sz="1600"/>
            </a:pPr>
            <a:r>
              <a:t>square root of a number x is y such that y*y = x</a:t>
            </a:r>
          </a:p>
          <a:p>
            <a:pPr>
              <a:spcAft>
                <a:spcPts val="400"/>
              </a:spcAft>
              <a:defRPr sz="1600"/>
            </a:pPr>
            <a:r>
              <a:t>recipe for deducing square root of a number x (16)</a:t>
            </a:r>
          </a:p>
          <a:p>
            <a:pPr>
              <a:spcAft>
                <a:spcPts val="400"/>
              </a:spcAft>
              <a:defRPr sz="1600"/>
            </a:pPr>
            <a:r>
              <a:t>1) Start with a guess, g</a:t>
            </a:r>
          </a:p>
          <a:p>
            <a:pPr>
              <a:spcAft>
                <a:spcPts val="400"/>
              </a:spcAft>
              <a:defRPr sz="1600"/>
            </a:pPr>
            <a:r>
              <a:t>2) If g*g is close enough to x, stop and say g is the</a:t>
            </a:r>
          </a:p>
          <a:p>
            <a:pPr>
              <a:spcAft>
                <a:spcPts val="400"/>
              </a:spcAft>
              <a:defRPr sz="1600"/>
            </a:pPr>
            <a:r>
              <a:t>answer</a:t>
            </a:r>
          </a:p>
          <a:p>
            <a:pPr>
              <a:spcAft>
                <a:spcPts val="400"/>
              </a:spcAft>
              <a:defRPr sz="1600"/>
            </a:pPr>
            <a:r>
              <a:t>3) Otherwise make a new guess by averaging g and x/g</a:t>
            </a:r>
          </a:p>
          <a:p>
            <a:pPr>
              <a:spcAft>
                <a:spcPts val="400"/>
              </a:spcAft>
              <a:defRPr sz="1600"/>
            </a:pPr>
            <a:r>
              <a:t>4) Using the new guess, repeat process until close enough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11</a:t>
            </a:r>
          </a:p>
          <a:p>
            <a:pPr>
              <a:spcAft>
                <a:spcPts val="400"/>
              </a:spcAft>
              <a:defRPr sz="1600"/>
            </a:pPr>
            <a:r>
              <a:t>g</a:t>
            </a:r>
          </a:p>
          <a:p>
            <a:pPr>
              <a:spcAft>
                <a:spcPts val="400"/>
              </a:spcAft>
              <a:defRPr sz="1600"/>
            </a:pPr>
            <a:r>
              <a:t>g*g</a:t>
            </a:r>
          </a:p>
          <a:p>
            <a:pPr>
              <a:spcAft>
                <a:spcPts val="400"/>
              </a:spcAft>
              <a:defRPr sz="1600"/>
            </a:pPr>
            <a:r>
              <a:t>x/g</a:t>
            </a:r>
          </a:p>
          <a:p>
            <a:pPr>
              <a:spcAft>
                <a:spcPts val="400"/>
              </a:spcAft>
              <a:defRPr sz="1600"/>
            </a:pPr>
            <a:r>
              <a:t>(g+x/g)/2</a:t>
            </a:r>
          </a:p>
          <a:p>
            <a:pPr>
              <a:spcAft>
                <a:spcPts val="400"/>
              </a:spcAft>
              <a:defRPr sz="1600"/>
            </a:pPr>
            <a:r>
              <a:t>3</a:t>
            </a:r>
          </a:p>
          <a:p>
            <a:pPr>
              <a:spcAft>
                <a:spcPts val="400"/>
              </a:spcAft>
              <a:defRPr sz="1600"/>
            </a:pPr>
            <a:r>
              <a:t>9</a:t>
            </a:r>
          </a:p>
          <a:p>
            <a:pPr>
              <a:spcAft>
                <a:spcPts val="400"/>
              </a:spcAft>
              <a:defRPr sz="1600"/>
            </a:pPr>
            <a:r>
              <a:t>16/3</a:t>
            </a:r>
          </a:p>
          <a:p>
            <a:pPr>
              <a:spcAft>
                <a:spcPts val="400"/>
              </a:spcAft>
              <a:defRPr sz="1600"/>
            </a:pPr>
            <a:r>
              <a:t>4.17</a:t>
            </a:r>
          </a:p>
          <a:p>
            <a:pPr>
              <a:spcAft>
                <a:spcPts val="400"/>
              </a:spcAft>
              <a:defRPr sz="1600"/>
            </a:pPr>
            <a:r>
              <a:t>4.17</a:t>
            </a:r>
          </a:p>
          <a:p>
            <a:pPr>
              <a:spcAft>
                <a:spcPts val="400"/>
              </a:spcAft>
              <a:defRPr sz="1600"/>
            </a:pPr>
            <a:r>
              <a:t>17.36</a:t>
            </a:r>
          </a:p>
          <a:p>
            <a:pPr>
              <a:spcAft>
                <a:spcPts val="400"/>
              </a:spcAft>
              <a:defRPr sz="1600"/>
            </a:pPr>
            <a:r>
              <a:t>3.837</a:t>
            </a:r>
          </a:p>
          <a:p>
            <a:pPr>
              <a:spcAft>
                <a:spcPts val="400"/>
              </a:spcAft>
              <a:defRPr sz="1600"/>
            </a:pPr>
            <a:r>
              <a:t>4.0035</a:t>
            </a:r>
          </a:p>
          <a:p>
            <a:pPr>
              <a:spcAft>
                <a:spcPts val="400"/>
              </a:spcAft>
              <a:defRPr sz="1600"/>
            </a:pPr>
            <a:r>
              <a:t>4.0035</a:t>
            </a:r>
          </a:p>
          <a:p>
            <a:pPr>
              <a:spcAft>
                <a:spcPts val="400"/>
              </a:spcAft>
              <a:defRPr sz="1600"/>
            </a:pPr>
            <a:r>
              <a:t>16.0277</a:t>
            </a:r>
          </a:p>
          <a:p>
            <a:pPr>
              <a:spcAft>
                <a:spcPts val="400"/>
              </a:spcAft>
              <a:defRPr sz="1600"/>
            </a:pPr>
            <a:r>
              <a:t>3.997</a:t>
            </a:r>
          </a:p>
          <a:p>
            <a:pPr>
              <a:spcAft>
                <a:spcPts val="400"/>
              </a:spcAft>
              <a:defRPr sz="1600"/>
            </a:pPr>
            <a:r>
              <a:t>4.000002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WHAT IS A RECIPE</a:t>
            </a:r>
          </a:p>
          <a:p>
            <a:pPr>
              <a:spcAft>
                <a:spcPts val="400"/>
              </a:spcAft>
              <a:defRPr sz="1600"/>
            </a:pPr>
            <a:r>
              <a:t>1)</a:t>
            </a:r>
          </a:p>
          <a:p>
            <a:pPr>
              <a:spcAft>
                <a:spcPts val="400"/>
              </a:spcAft>
              <a:defRPr sz="1600"/>
            </a:pPr>
            <a:r>
              <a:t>sequence of simple steps</a:t>
            </a:r>
          </a:p>
          <a:p>
            <a:pPr>
              <a:spcAft>
                <a:spcPts val="400"/>
              </a:spcAft>
              <a:defRPr sz="1600"/>
            </a:pPr>
            <a:r>
              <a:t>2)</a:t>
            </a:r>
          </a:p>
          <a:p>
            <a:pPr>
              <a:spcAft>
                <a:spcPts val="400"/>
              </a:spcAft>
              <a:defRPr sz="1600"/>
            </a:pPr>
            <a:r>
              <a:t>flow of control process that specifies when each</a:t>
            </a:r>
          </a:p>
          <a:p>
            <a:pPr>
              <a:spcAft>
                <a:spcPts val="400"/>
              </a:spcAft>
              <a:defRPr sz="1600"/>
            </a:pPr>
            <a:r>
              <a:t>step is executed</a:t>
            </a:r>
          </a:p>
          <a:p>
            <a:pPr>
              <a:spcAft>
                <a:spcPts val="400"/>
              </a:spcAft>
              <a:defRPr sz="1600"/>
            </a:pPr>
            <a:r>
              <a:t>3)</a:t>
            </a:r>
          </a:p>
          <a:p>
            <a:pPr>
              <a:spcAft>
                <a:spcPts val="400"/>
              </a:spcAft>
              <a:defRPr sz="1600"/>
            </a:pPr>
            <a:r>
              <a:t>a means of determining when to stop</a:t>
            </a:r>
          </a:p>
          <a:p>
            <a:pPr>
              <a:spcAft>
                <a:spcPts val="400"/>
              </a:spcAft>
              <a:defRPr sz="1600"/>
            </a:pPr>
            <a:r>
              <a:t>1+2+3 = an algorithm!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COMPUTERS ARE MACHINES</a:t>
            </a:r>
          </a:p>
          <a:p>
            <a:pPr>
              <a:spcAft>
                <a:spcPts val="400"/>
              </a:spcAft>
              <a:defRPr sz="1600"/>
            </a:pPr>
            <a:r>
              <a:t>how to capture a recipe in a mechanical process</a:t>
            </a:r>
          </a:p>
          <a:p>
            <a:pPr>
              <a:spcAft>
                <a:spcPts val="400"/>
              </a:spcAft>
              <a:defRPr sz="1600"/>
            </a:pPr>
            <a:r>
              <a:t>fixed program computer</a:t>
            </a:r>
          </a:p>
          <a:p>
            <a:pPr>
              <a:spcAft>
                <a:spcPts val="400"/>
              </a:spcAft>
              <a:defRPr sz="1600"/>
            </a:pPr>
            <a:r>
              <a:t>◦calculator</a:t>
            </a:r>
          </a:p>
          <a:p>
            <a:pPr>
              <a:spcAft>
                <a:spcPts val="400"/>
              </a:spcAft>
              <a:defRPr sz="1600"/>
            </a:pPr>
            <a:r>
              <a:t>stored program computer</a:t>
            </a:r>
          </a:p>
          <a:p>
            <a:pPr>
              <a:spcAft>
                <a:spcPts val="400"/>
              </a:spcAft>
              <a:defRPr sz="1600"/>
            </a:pPr>
            <a:r>
              <a:t>◦machine stores and executes instructions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BASIC MACHINE ARCHITECTURE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14</a:t>
            </a:r>
          </a:p>
          <a:p>
            <a:pPr>
              <a:spcAft>
                <a:spcPts val="400"/>
              </a:spcAft>
              <a:defRPr sz="1600"/>
            </a:pPr>
            <a:r>
              <a:t>MEMORY</a:t>
            </a:r>
          </a:p>
          <a:p>
            <a:pPr>
              <a:spcAft>
                <a:spcPts val="400"/>
              </a:spcAft>
              <a:defRPr sz="1600"/>
            </a:pPr>
            <a:r>
              <a:t>CONTROL</a:t>
            </a:r>
          </a:p>
          <a:p>
            <a:pPr>
              <a:spcAft>
                <a:spcPts val="400"/>
              </a:spcAft>
              <a:defRPr sz="1600"/>
            </a:pPr>
            <a:r>
              <a:t>UNIT</a:t>
            </a:r>
          </a:p>
          <a:p>
            <a:pPr>
              <a:spcAft>
                <a:spcPts val="400"/>
              </a:spcAft>
              <a:defRPr sz="1600"/>
            </a:pPr>
            <a:r>
              <a:t>ARITHMETIC</a:t>
            </a:r>
          </a:p>
          <a:p>
            <a:pPr>
              <a:spcAft>
                <a:spcPts val="400"/>
              </a:spcAft>
              <a:defRPr sz="1600"/>
            </a:pPr>
            <a:r>
              <a:t>LOGIC UNIT</a:t>
            </a:r>
          </a:p>
          <a:p>
            <a:pPr>
              <a:spcAft>
                <a:spcPts val="400"/>
              </a:spcAft>
              <a:defRPr sz="1600"/>
            </a:pPr>
            <a:r>
              <a:t>INPUT</a:t>
            </a:r>
          </a:p>
          <a:p>
            <a:pPr>
              <a:spcAft>
                <a:spcPts val="400"/>
              </a:spcAft>
              <a:defRPr sz="1600"/>
            </a:pPr>
            <a:r>
              <a:t>OUTPUT</a:t>
            </a:r>
          </a:p>
          <a:p>
            <a:pPr>
              <a:spcAft>
                <a:spcPts val="400"/>
              </a:spcAft>
              <a:defRPr sz="1600"/>
            </a:pPr>
            <a:r>
              <a:t>program counter</a:t>
            </a:r>
          </a:p>
          <a:p>
            <a:pPr>
              <a:spcAft>
                <a:spcPts val="400"/>
              </a:spcAft>
              <a:defRPr sz="1600"/>
            </a:pPr>
            <a:r>
              <a:t>do primitive 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STORED PROGRAM COMPUTER</a:t>
            </a:r>
          </a:p>
          <a:p>
            <a:pPr>
              <a:spcAft>
                <a:spcPts val="400"/>
              </a:spcAft>
              <a:defRPr sz="1600"/>
            </a:pPr>
            <a:r>
              <a:t>sequence of instructions stored inside computer</a:t>
            </a:r>
          </a:p>
          <a:p>
            <a:pPr>
              <a:spcAft>
                <a:spcPts val="400"/>
              </a:spcAft>
              <a:defRPr sz="1600"/>
            </a:pPr>
            <a:r>
              <a:t>◦built from predefined set of primitive instructions</a:t>
            </a:r>
          </a:p>
          <a:p>
            <a:pPr>
              <a:spcAft>
                <a:spcPts val="400"/>
              </a:spcAft>
              <a:defRPr sz="1600"/>
            </a:pPr>
            <a:r>
              <a:t>1)</a:t>
            </a:r>
          </a:p>
          <a:p>
            <a:pPr>
              <a:spcAft>
                <a:spcPts val="400"/>
              </a:spcAft>
              <a:defRPr sz="1600"/>
            </a:pPr>
            <a:r>
              <a:t>arithmetic and logic</a:t>
            </a:r>
          </a:p>
          <a:p>
            <a:pPr>
              <a:spcAft>
                <a:spcPts val="400"/>
              </a:spcAft>
              <a:defRPr sz="1600"/>
            </a:pPr>
            <a:r>
              <a:t>2)</a:t>
            </a:r>
          </a:p>
          <a:p>
            <a:pPr>
              <a:spcAft>
                <a:spcPts val="400"/>
              </a:spcAft>
              <a:defRPr sz="1600"/>
            </a:pPr>
            <a:r>
              <a:t>simple tests</a:t>
            </a:r>
          </a:p>
          <a:p>
            <a:pPr>
              <a:spcAft>
                <a:spcPts val="400"/>
              </a:spcAft>
              <a:defRPr sz="1600"/>
            </a:pPr>
            <a:r>
              <a:t>3)</a:t>
            </a:r>
          </a:p>
          <a:p>
            <a:pPr>
              <a:spcAft>
                <a:spcPts val="400"/>
              </a:spcAft>
              <a:defRPr sz="1600"/>
            </a:pPr>
            <a:r>
              <a:t>moving data</a:t>
            </a:r>
          </a:p>
          <a:p>
            <a:pPr>
              <a:spcAft>
                <a:spcPts val="400"/>
              </a:spcAft>
              <a:defRPr sz="1600"/>
            </a:pPr>
            <a:r>
              <a:t>special program (interpreter) executes each</a:t>
            </a:r>
          </a:p>
          <a:p>
            <a:pPr>
              <a:spcAft>
                <a:spcPts val="400"/>
              </a:spcAft>
              <a:defRPr sz="1600"/>
            </a:pPr>
            <a:r>
              <a:t>instruction in order</a:t>
            </a:r>
          </a:p>
          <a:p>
            <a:pPr>
              <a:spcAft>
                <a:spcPts val="400"/>
              </a:spcAft>
              <a:defRPr sz="1600"/>
            </a:pPr>
            <a:r>
              <a:t>◦use tests to change flow of control through sequence</a:t>
            </a:r>
          </a:p>
          <a:p>
            <a:pPr>
              <a:spcAft>
                <a:spcPts val="400"/>
              </a:spcAft>
              <a:defRPr sz="1600"/>
            </a:pPr>
            <a:r>
              <a:t>◦stop when done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BASIC PRIMITIVES</a:t>
            </a:r>
          </a:p>
          <a:p>
            <a:pPr>
              <a:spcAft>
                <a:spcPts val="400"/>
              </a:spcAft>
              <a:defRPr sz="1600"/>
            </a:pPr>
            <a:r>
              <a:t>Turing showed that you can compute anything using 6</a:t>
            </a:r>
          </a:p>
          <a:p>
            <a:pPr>
              <a:spcAft>
                <a:spcPts val="400"/>
              </a:spcAft>
              <a:defRPr sz="1600"/>
            </a:pPr>
            <a:r>
              <a:t>primitives</a:t>
            </a:r>
          </a:p>
          <a:p>
            <a:pPr>
              <a:spcAft>
                <a:spcPts val="400"/>
              </a:spcAft>
              <a:defRPr sz="1600"/>
            </a:pPr>
            <a:r>
              <a:t>modern programming languages have more</a:t>
            </a:r>
          </a:p>
          <a:p>
            <a:pPr>
              <a:spcAft>
                <a:spcPts val="400"/>
              </a:spcAft>
              <a:defRPr sz="1600"/>
            </a:pPr>
            <a:r>
              <a:t>convenient set of primitives</a:t>
            </a:r>
          </a:p>
          <a:p>
            <a:pPr>
              <a:spcAft>
                <a:spcPts val="400"/>
              </a:spcAft>
              <a:defRPr sz="1600"/>
            </a:pPr>
            <a:r>
              <a:t>can abstract methods to create new primitives</a:t>
            </a:r>
          </a:p>
          <a:p>
            <a:pPr>
              <a:spcAft>
                <a:spcPts val="400"/>
              </a:spcAft>
              <a:defRPr sz="1600"/>
            </a:pPr>
            <a:r>
              <a:t>anything computable in one language is computable in</a:t>
            </a:r>
          </a:p>
          <a:p>
            <a:pPr>
              <a:spcAft>
                <a:spcPts val="400"/>
              </a:spcAft>
              <a:defRPr sz="1600"/>
            </a:pPr>
            <a:r>
              <a:t>any other programming language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CREATING RECIPES</a:t>
            </a:r>
          </a:p>
          <a:p>
            <a:pPr>
              <a:spcAft>
                <a:spcPts val="400"/>
              </a:spcAft>
              <a:defRPr sz="1600"/>
            </a:pPr>
            <a:r>
              <a:t>a programming language provides a set of primitive</a:t>
            </a:r>
          </a:p>
          <a:p>
            <a:pPr>
              <a:spcAft>
                <a:spcPts val="400"/>
              </a:spcAft>
              <a:defRPr sz="1600"/>
            </a:pPr>
            <a:r>
              <a:t>operations</a:t>
            </a:r>
          </a:p>
          <a:p>
            <a:pPr>
              <a:spcAft>
                <a:spcPts val="400"/>
              </a:spcAft>
              <a:defRPr sz="1600"/>
            </a:pPr>
            <a:r>
              <a:t>expressions are complex but legal combinations of</a:t>
            </a:r>
          </a:p>
          <a:p>
            <a:pPr>
              <a:spcAft>
                <a:spcPts val="400"/>
              </a:spcAft>
              <a:defRPr sz="1600"/>
            </a:pPr>
            <a:r>
              <a:t>primitives in a programming language</a:t>
            </a:r>
          </a:p>
          <a:p>
            <a:pPr>
              <a:spcAft>
                <a:spcPts val="400"/>
              </a:spcAft>
              <a:defRPr sz="1600"/>
            </a:pPr>
            <a:r>
              <a:t>expressions and computations have values and</a:t>
            </a:r>
          </a:p>
          <a:p>
            <a:pPr>
              <a:spcAft>
                <a:spcPts val="400"/>
              </a:spcAft>
              <a:defRPr sz="1600"/>
            </a:pPr>
            <a:r>
              <a:t>meanings in a programming language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ASPECTS OF LANGUAGES</a:t>
            </a:r>
          </a:p>
          <a:p>
            <a:pPr>
              <a:spcAft>
                <a:spcPts val="400"/>
              </a:spcAft>
              <a:defRPr sz="1600"/>
            </a:pPr>
            <a:r>
              <a:t>primitive constructs</a:t>
            </a:r>
          </a:p>
          <a:p>
            <a:pPr>
              <a:spcAft>
                <a:spcPts val="400"/>
              </a:spcAft>
              <a:defRPr sz="1600"/>
            </a:pPr>
            <a:r>
              <a:t>◦English: words</a:t>
            </a:r>
          </a:p>
          <a:p>
            <a:pPr>
              <a:spcAft>
                <a:spcPts val="400"/>
              </a:spcAft>
              <a:defRPr sz="1600"/>
            </a:pPr>
            <a:r>
              <a:t>◦programming language: numbers, strings, simple</a:t>
            </a:r>
          </a:p>
          <a:p>
            <a:pPr>
              <a:spcAft>
                <a:spcPts val="400"/>
              </a:spcAft>
              <a:defRPr sz="1600"/>
            </a:pPr>
            <a:r>
              <a:t>operators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18</a:t>
            </a:r>
          </a:p>
          <a:p>
            <a:pPr>
              <a:spcAft>
                <a:spcPts val="400"/>
              </a:spcAft>
              <a:defRPr sz="1600"/>
            </a:pPr>
            <a:r>
              <a:t>A word cloud of common words in Python.</a:t>
            </a:r>
          </a:p>
          <a:p>
            <a:pPr>
              <a:spcAft>
                <a:spcPts val="400"/>
              </a:spcAft>
              <a:defRPr sz="1600"/>
            </a:pPr>
            <a:r>
              <a:t>Word Cloud copyright Michael Twardos, All Right Reserved. This content is exclud</a:t>
            </a:r>
          </a:p>
          <a:p>
            <a:pPr>
              <a:spcAft>
                <a:spcPts val="400"/>
              </a:spcAft>
              <a:defRPr sz="1600"/>
            </a:pPr>
            <a:r>
              <a:t>Creative Commons license. For more information, see https://ocw.mit.edu/help/faq</a:t>
            </a:r>
          </a:p>
          <a:p>
            <a:pPr>
              <a:spcAft>
                <a:spcPts val="400"/>
              </a:spcAft>
              <a:defRPr sz="1600"/>
            </a:pPr>
            <a:r>
              <a:t>Word Cloud copyright unknown, All Right Reserved.</a:t>
            </a:r>
          </a:p>
          <a:p>
            <a:pPr>
              <a:spcAft>
                <a:spcPts val="400"/>
              </a:spcAft>
              <a:defRPr sz="1600"/>
            </a:pPr>
            <a:r>
              <a:t>This content is excluded from our Creative</a:t>
            </a:r>
          </a:p>
          <a:p>
            <a:pPr>
              <a:spcAft>
                <a:spcPts val="400"/>
              </a:spcAft>
              <a:defRPr sz="1600"/>
            </a:pPr>
            <a:r>
              <a:t>Commons license. For more information, see</a:t>
            </a:r>
          </a:p>
          <a:p>
            <a:pPr>
              <a:spcAft>
                <a:spcPts val="400"/>
              </a:spcAft>
              <a:defRPr sz="1600"/>
            </a:pPr>
            <a:r>
              <a:t>https://ocw.mit.edu/help/faq-fair-use/.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ASPECTS OF LANGUAGES</a:t>
            </a:r>
          </a:p>
          <a:p>
            <a:pPr>
              <a:spcAft>
                <a:spcPts val="400"/>
              </a:spcAft>
              <a:defRPr sz="1600"/>
            </a:pPr>
            <a:r>
              <a:t>syntax</a:t>
            </a:r>
          </a:p>
          <a:p>
            <a:pPr>
              <a:spcAft>
                <a:spcPts val="400"/>
              </a:spcAft>
              <a:defRPr sz="1600"/>
            </a:pPr>
            <a:r>
              <a:t>◦English: "cat dog boy"    not syntactically valid</a:t>
            </a:r>
          </a:p>
          <a:p>
            <a:pPr>
              <a:spcAft>
                <a:spcPts val="400"/>
              </a:spcAft>
              <a:defRPr sz="1600"/>
            </a:pPr>
            <a:r>
              <a:t>"cat hugs boy" syntactically valid</a:t>
            </a:r>
          </a:p>
          <a:p>
            <a:pPr>
              <a:spcAft>
                <a:spcPts val="400"/>
              </a:spcAft>
              <a:defRPr sz="1600"/>
            </a:pPr>
            <a:r>
              <a:t>◦programming language: "hi"5 not syntactically valid</a:t>
            </a:r>
          </a:p>
          <a:p>
            <a:pPr>
              <a:spcAft>
                <a:spcPts val="400"/>
              </a:spcAft>
              <a:defRPr sz="1600"/>
            </a:pPr>
            <a:r>
              <a:t>3.2*5 syntactically valid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ASPECTS OF LANGUAGES</a:t>
            </a:r>
          </a:p>
          <a:p>
            <a:pPr>
              <a:spcAft>
                <a:spcPts val="400"/>
              </a:spcAft>
              <a:defRPr sz="1600"/>
            </a:pPr>
            <a:r>
              <a:t>static semantics is which syntactically valid strings</a:t>
            </a:r>
          </a:p>
          <a:p>
            <a:pPr>
              <a:spcAft>
                <a:spcPts val="400"/>
              </a:spcAft>
              <a:defRPr sz="1600"/>
            </a:pPr>
            <a:r>
              <a:t>have meaning</a:t>
            </a:r>
          </a:p>
          <a:p>
            <a:pPr>
              <a:spcAft>
                <a:spcPts val="400"/>
              </a:spcAft>
              <a:defRPr sz="1600"/>
            </a:pPr>
            <a:r>
              <a:t>◦English: "I are hungry" syntactically valid</a:t>
            </a:r>
          </a:p>
          <a:p>
            <a:pPr>
              <a:spcAft>
                <a:spcPts val="400"/>
              </a:spcAft>
              <a:defRPr sz="1600"/>
            </a:pPr>
            <a:r>
              <a:t>but static semantic error</a:t>
            </a:r>
          </a:p>
          <a:p>
            <a:pPr>
              <a:spcAft>
                <a:spcPts val="400"/>
              </a:spcAft>
              <a:defRPr sz="1600"/>
            </a:pPr>
            <a:r>
              <a:t>◦programming language: 3.2*5</a:t>
            </a:r>
          </a:p>
          <a:p>
            <a:pPr>
              <a:spcAft>
                <a:spcPts val="400"/>
              </a:spcAft>
              <a:defRPr sz="1600"/>
            </a:pPr>
            <a:r>
              <a:t>syntactically valid</a:t>
            </a:r>
          </a:p>
          <a:p>
            <a:pPr>
              <a:spcAft>
                <a:spcPts val="400"/>
              </a:spcAft>
              <a:defRPr sz="1600"/>
            </a:pPr>
            <a:r>
              <a:t>3+"hi" static semantic error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ASPECTS OF LANGUAGES</a:t>
            </a:r>
          </a:p>
          <a:p>
            <a:pPr>
              <a:spcAft>
                <a:spcPts val="400"/>
              </a:spcAft>
              <a:defRPr sz="1600"/>
            </a:pPr>
            <a:r>
              <a:t>semantics is the meaning associated with a</a:t>
            </a:r>
          </a:p>
          <a:p>
            <a:pPr>
              <a:spcAft>
                <a:spcPts val="400"/>
              </a:spcAft>
              <a:defRPr sz="1600"/>
            </a:pPr>
            <a:r>
              <a:t>syntactically correct string of symbols with no static</a:t>
            </a:r>
          </a:p>
          <a:p>
            <a:pPr>
              <a:spcAft>
                <a:spcPts val="400"/>
              </a:spcAft>
              <a:defRPr sz="1600"/>
            </a:pPr>
            <a:r>
              <a:t>semantic errors</a:t>
            </a:r>
          </a:p>
          <a:p>
            <a:pPr>
              <a:spcAft>
                <a:spcPts val="400"/>
              </a:spcAft>
              <a:defRPr sz="1600"/>
            </a:pPr>
            <a:r>
              <a:t>◦English: can have many meanings "Flying planes</a:t>
            </a:r>
          </a:p>
          <a:p>
            <a:pPr>
              <a:spcAft>
                <a:spcPts val="400"/>
              </a:spcAft>
              <a:defRPr sz="1600"/>
            </a:pPr>
            <a:r>
              <a:t>can be dangerous"</a:t>
            </a:r>
          </a:p>
          <a:p>
            <a:pPr>
              <a:spcAft>
                <a:spcPts val="400"/>
              </a:spcAft>
              <a:defRPr sz="1600"/>
            </a:pPr>
            <a:r>
              <a:t>◦programming languages: have only one meaning but may</a:t>
            </a:r>
          </a:p>
          <a:p>
            <a:pPr>
              <a:spcAft>
                <a:spcPts val="400"/>
              </a:spcAft>
              <a:defRPr sz="1600"/>
            </a:pPr>
            <a:r>
              <a:t>not be what programmer intended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WHERE THINGS GO WRONG</a:t>
            </a:r>
          </a:p>
          <a:p>
            <a:pPr>
              <a:spcAft>
                <a:spcPts val="400"/>
              </a:spcAft>
              <a:defRPr sz="1600"/>
            </a:pPr>
            <a:r>
              <a:t>syntactic errors</a:t>
            </a:r>
          </a:p>
          <a:p>
            <a:pPr>
              <a:spcAft>
                <a:spcPts val="400"/>
              </a:spcAft>
              <a:defRPr sz="1600"/>
            </a:pPr>
            <a:r>
              <a:t>◦common and easily caught</a:t>
            </a:r>
          </a:p>
          <a:p>
            <a:pPr>
              <a:spcAft>
                <a:spcPts val="400"/>
              </a:spcAft>
              <a:defRPr sz="1600"/>
            </a:pPr>
            <a:r>
              <a:t>static semantic errors</a:t>
            </a:r>
          </a:p>
          <a:p>
            <a:pPr>
              <a:spcAft>
                <a:spcPts val="400"/>
              </a:spcAft>
              <a:defRPr sz="1600"/>
            </a:pPr>
            <a:r>
              <a:t>◦some languages check for these before running program</a:t>
            </a:r>
          </a:p>
          <a:p>
            <a:pPr>
              <a:spcAft>
                <a:spcPts val="400"/>
              </a:spcAft>
              <a:defRPr sz="1600"/>
            </a:pPr>
            <a:r>
              <a:t>◦can cause unpredictable behavior</a:t>
            </a:r>
          </a:p>
          <a:p>
            <a:pPr>
              <a:spcAft>
                <a:spcPts val="400"/>
              </a:spcAft>
              <a:defRPr sz="1600"/>
            </a:pPr>
            <a:r>
              <a:t>no semantic errors but different meaning than what</a:t>
            </a:r>
          </a:p>
          <a:p>
            <a:pPr>
              <a:spcAft>
                <a:spcPts val="400"/>
              </a:spcAft>
              <a:defRPr sz="1600"/>
            </a:pPr>
            <a:r>
              <a:t>programmer intended</a:t>
            </a:r>
          </a:p>
          <a:p>
            <a:pPr>
              <a:spcAft>
                <a:spcPts val="400"/>
              </a:spcAft>
              <a:defRPr sz="1600"/>
            </a:pPr>
            <a:r>
              <a:t>◦program crashes, stops running</a:t>
            </a:r>
          </a:p>
          <a:p>
            <a:pPr>
              <a:spcAft>
                <a:spcPts val="400"/>
              </a:spcAft>
              <a:defRPr sz="1600"/>
            </a:pPr>
            <a:r>
              <a:t>◦program runs forever</a:t>
            </a:r>
          </a:p>
          <a:p>
            <a:pPr>
              <a:spcAft>
                <a:spcPts val="400"/>
              </a:spcAft>
              <a:defRPr sz="1600"/>
            </a:pPr>
            <a:r>
              <a:t>◦program gives an answer but different than expected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PYTHON PROGRAMS</a:t>
            </a:r>
          </a:p>
          <a:p>
            <a:pPr>
              <a:spcAft>
                <a:spcPts val="400"/>
              </a:spcAft>
              <a:defRPr sz="1600"/>
            </a:pPr>
            <a:r>
              <a:t>a program is a sequence of definitions and commands</a:t>
            </a:r>
          </a:p>
          <a:p>
            <a:pPr>
              <a:spcAft>
                <a:spcPts val="400"/>
              </a:spcAft>
              <a:defRPr sz="1600"/>
            </a:pPr>
            <a:r>
              <a:t>◦definitions evaluated</a:t>
            </a:r>
          </a:p>
          <a:p>
            <a:pPr>
              <a:spcAft>
                <a:spcPts val="400"/>
              </a:spcAft>
              <a:defRPr sz="1600"/>
            </a:pPr>
            <a:r>
              <a:t>◦commands executed by Python interpreter in a shell</a:t>
            </a:r>
          </a:p>
          <a:p>
            <a:pPr>
              <a:spcAft>
                <a:spcPts val="400"/>
              </a:spcAft>
              <a:defRPr sz="1600"/>
            </a:pPr>
            <a:r>
              <a:t>commands (statements) instruct interpreter to do</a:t>
            </a:r>
          </a:p>
          <a:p>
            <a:pPr>
              <a:spcAft>
                <a:spcPts val="400"/>
              </a:spcAft>
              <a:defRPr sz="1600"/>
            </a:pPr>
            <a:r>
              <a:t>something</a:t>
            </a:r>
          </a:p>
          <a:p>
            <a:pPr>
              <a:spcAft>
                <a:spcPts val="400"/>
              </a:spcAft>
              <a:defRPr sz="1600"/>
            </a:pPr>
            <a:r>
              <a:t>can be typed directly in a shell or stored in a file that</a:t>
            </a:r>
          </a:p>
          <a:p>
            <a:pPr>
              <a:spcAft>
                <a:spcPts val="400"/>
              </a:spcAft>
              <a:defRPr sz="1600"/>
            </a:pPr>
            <a:r>
              <a:t>is read into the shell and evaluated</a:t>
            </a:r>
          </a:p>
          <a:p>
            <a:pPr>
              <a:spcAft>
                <a:spcPts val="400"/>
              </a:spcAft>
              <a:defRPr sz="1600"/>
            </a:pPr>
            <a:r>
              <a:t>◦Problem Set 0 will introduce you to these in Anaconda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OBJECTS</a:t>
            </a:r>
          </a:p>
          <a:p>
            <a:pPr>
              <a:spcAft>
                <a:spcPts val="400"/>
              </a:spcAft>
              <a:defRPr sz="1600"/>
            </a:pPr>
            <a:r>
              <a:t>programs manipulate data objects</a:t>
            </a:r>
          </a:p>
          <a:p>
            <a:pPr>
              <a:spcAft>
                <a:spcPts val="400"/>
              </a:spcAft>
              <a:defRPr sz="1600"/>
            </a:pPr>
            <a:r>
              <a:t>objects have a type that defines the kinds of things</a:t>
            </a:r>
          </a:p>
          <a:p>
            <a:pPr>
              <a:spcAft>
                <a:spcPts val="400"/>
              </a:spcAft>
              <a:defRPr sz="1600"/>
            </a:pPr>
            <a:r>
              <a:t>programs can do to them</a:t>
            </a:r>
          </a:p>
          <a:p>
            <a:pPr>
              <a:spcAft>
                <a:spcPts val="400"/>
              </a:spcAft>
              <a:defRPr sz="1600"/>
            </a:pPr>
            <a:r>
              <a:t>◦Ana is a human so she can walk, speak English, etc.</a:t>
            </a:r>
          </a:p>
          <a:p>
            <a:pPr>
              <a:spcAft>
                <a:spcPts val="400"/>
              </a:spcAft>
              <a:defRPr sz="1600"/>
            </a:pPr>
            <a:r>
              <a:t>◦Chewbacca is a wookie so he can walk, “mwaaarhrhh”, etc.</a:t>
            </a:r>
          </a:p>
          <a:p>
            <a:pPr>
              <a:spcAft>
                <a:spcPts val="400"/>
              </a:spcAft>
              <a:defRPr sz="1600"/>
            </a:pPr>
            <a:r>
              <a:t>objects are</a:t>
            </a:r>
          </a:p>
          <a:p>
            <a:pPr>
              <a:spcAft>
                <a:spcPts val="400"/>
              </a:spcAft>
              <a:defRPr sz="1600"/>
            </a:pPr>
            <a:r>
              <a:t>◦scalar (cannot be subdivided)</a:t>
            </a:r>
          </a:p>
          <a:p>
            <a:pPr>
              <a:spcAft>
                <a:spcPts val="400"/>
              </a:spcAft>
              <a:defRPr sz="1600"/>
            </a:pPr>
            <a:r>
              <a:t>◦non-scalar (have internal structure that can be accessed)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SCALAR OBJECTS</a:t>
            </a:r>
          </a:p>
          <a:p>
            <a:pPr>
              <a:spcAft>
                <a:spcPts val="400"/>
              </a:spcAft>
              <a:defRPr sz="1600"/>
            </a:pPr>
            <a:r>
              <a:t>int – represent integers, ex. 5</a:t>
            </a:r>
          </a:p>
          <a:p>
            <a:pPr>
              <a:spcAft>
                <a:spcPts val="400"/>
              </a:spcAft>
              <a:defRPr sz="1600"/>
            </a:pPr>
            <a:r>
              <a:t>float – represent real numbers, ex. 3.27</a:t>
            </a:r>
          </a:p>
          <a:p>
            <a:pPr>
              <a:spcAft>
                <a:spcPts val="400"/>
              </a:spcAft>
              <a:defRPr sz="1600"/>
            </a:pPr>
            <a:r>
              <a:t>bool – represent Boolean values True and False</a:t>
            </a:r>
          </a:p>
          <a:p>
            <a:pPr>
              <a:spcAft>
                <a:spcPts val="400"/>
              </a:spcAft>
              <a:defRPr sz="1600"/>
            </a:pPr>
            <a:r>
              <a:t>NoneType – special and has one value, None</a:t>
            </a:r>
          </a:p>
          <a:p>
            <a:pPr>
              <a:spcAft>
                <a:spcPts val="400"/>
              </a:spcAft>
              <a:defRPr sz="1600"/>
            </a:pPr>
            <a:r>
              <a:t>can use type() to see the type of an object</a:t>
            </a:r>
          </a:p>
          <a:p>
            <a:pPr>
              <a:spcAft>
                <a:spcPts val="400"/>
              </a:spcAft>
              <a:defRPr sz="1600"/>
            </a:pPr>
            <a:r>
              <a:t>&gt;&gt;&gt; type(5)</a:t>
            </a:r>
          </a:p>
          <a:p>
            <a:pPr>
              <a:spcAft>
                <a:spcPts val="400"/>
              </a:spcAft>
              <a:defRPr sz="1600"/>
            </a:pPr>
            <a:r>
              <a:t>int</a:t>
            </a:r>
          </a:p>
          <a:p>
            <a:pPr>
              <a:spcAft>
                <a:spcPts val="400"/>
              </a:spcAft>
              <a:defRPr sz="1600"/>
            </a:pPr>
            <a:r>
              <a:t>&gt;&gt;&gt; type(3.0)</a:t>
            </a:r>
          </a:p>
          <a:p>
            <a:pPr>
              <a:spcAft>
                <a:spcPts val="400"/>
              </a:spcAft>
              <a:defRPr sz="1600"/>
            </a:pPr>
            <a:r>
              <a:t>float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TYPE CONVERSIONS (CAST)</a:t>
            </a:r>
          </a:p>
          <a:p>
            <a:pPr>
              <a:spcAft>
                <a:spcPts val="400"/>
              </a:spcAft>
              <a:defRPr sz="1600"/>
            </a:pPr>
            <a:r>
              <a:t>can convert object of one type to another</a:t>
            </a:r>
          </a:p>
          <a:p>
            <a:pPr>
              <a:spcAft>
                <a:spcPts val="400"/>
              </a:spcAft>
              <a:defRPr sz="1600"/>
            </a:pPr>
            <a:r>
              <a:t>float(3) converts integer 3 to float 3.0</a:t>
            </a:r>
          </a:p>
          <a:p>
            <a:pPr>
              <a:spcAft>
                <a:spcPts val="400"/>
              </a:spcAft>
              <a:defRPr sz="1600"/>
            </a:pPr>
            <a:r>
              <a:t>int(3.9) truncates float 3.9 to integer 3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PRINTING TO CONSOLE</a:t>
            </a:r>
          </a:p>
          <a:p>
            <a:pPr>
              <a:spcAft>
                <a:spcPts val="400"/>
              </a:spcAft>
              <a:defRPr sz="1600"/>
            </a:pPr>
            <a:r>
              <a:t>to show output from code to a user, use print</a:t>
            </a:r>
          </a:p>
          <a:p>
            <a:pPr>
              <a:spcAft>
                <a:spcPts val="400"/>
              </a:spcAft>
              <a:defRPr sz="1600"/>
            </a:pPr>
            <a:r>
              <a:t>command</a:t>
            </a:r>
          </a:p>
          <a:p>
            <a:pPr>
              <a:spcAft>
                <a:spcPts val="400"/>
              </a:spcAft>
              <a:defRPr sz="1600"/>
            </a:pPr>
            <a:r>
              <a:t>In [11]: 3+2</a:t>
            </a:r>
          </a:p>
          <a:p>
            <a:pPr>
              <a:spcAft>
                <a:spcPts val="400"/>
              </a:spcAft>
              <a:defRPr sz="1600"/>
            </a:pPr>
            <a:r>
              <a:t>Out[11]: 5</a:t>
            </a:r>
          </a:p>
          <a:p>
            <a:pPr>
              <a:spcAft>
                <a:spcPts val="400"/>
              </a:spcAft>
              <a:defRPr sz="1600"/>
            </a:pPr>
            <a:r>
              <a:t>In [12]: print(3+2)</a:t>
            </a:r>
          </a:p>
          <a:p>
            <a:pPr>
              <a:spcAft>
                <a:spcPts val="400"/>
              </a:spcAft>
              <a:defRPr sz="1600"/>
            </a:pPr>
            <a:r>
              <a:t>5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EXPRESSIONS</a:t>
            </a:r>
          </a:p>
          <a:p>
            <a:pPr>
              <a:spcAft>
                <a:spcPts val="400"/>
              </a:spcAft>
              <a:defRPr sz="1600"/>
            </a:pPr>
            <a:r>
              <a:t>combine objects and operators to form expressions</a:t>
            </a:r>
          </a:p>
          <a:p>
            <a:pPr>
              <a:spcAft>
                <a:spcPts val="400"/>
              </a:spcAft>
              <a:defRPr sz="1600"/>
            </a:pPr>
            <a:r>
              <a:t>an expression has a value, which has a type</a:t>
            </a:r>
          </a:p>
          <a:p>
            <a:pPr>
              <a:spcAft>
                <a:spcPts val="400"/>
              </a:spcAft>
              <a:defRPr sz="1600"/>
            </a:pPr>
            <a:r>
              <a:t>syntax for a simple expression</a:t>
            </a:r>
          </a:p>
          <a:p>
            <a:pPr>
              <a:spcAft>
                <a:spcPts val="400"/>
              </a:spcAft>
              <a:defRPr sz="1600"/>
            </a:pPr>
            <a:r>
              <a:t>&lt;object&gt; &lt;operator&gt; &lt;object&gt;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OPERATORS ON ints and floats</a:t>
            </a:r>
          </a:p>
          <a:p>
            <a:pPr>
              <a:spcAft>
                <a:spcPts val="400"/>
              </a:spcAft>
              <a:defRPr sz="1600"/>
            </a:pPr>
            <a:r>
              <a:t>i+j</a:t>
            </a:r>
          </a:p>
          <a:p>
            <a:pPr>
              <a:spcAft>
                <a:spcPts val="400"/>
              </a:spcAft>
              <a:defRPr sz="1600"/>
            </a:pPr>
            <a:r>
              <a:t>the sum</a:t>
            </a:r>
          </a:p>
          <a:p>
            <a:pPr>
              <a:spcAft>
                <a:spcPts val="400"/>
              </a:spcAft>
              <a:defRPr sz="1600"/>
            </a:pPr>
            <a:r>
              <a:t>i-j</a:t>
            </a:r>
          </a:p>
          <a:p>
            <a:pPr>
              <a:spcAft>
                <a:spcPts val="400"/>
              </a:spcAft>
              <a:defRPr sz="1600"/>
            </a:pPr>
            <a:r>
              <a:t>the difference</a:t>
            </a:r>
          </a:p>
          <a:p>
            <a:pPr>
              <a:spcAft>
                <a:spcPts val="400"/>
              </a:spcAft>
              <a:defRPr sz="1600"/>
            </a:pPr>
            <a:r>
              <a:t>i*j</a:t>
            </a:r>
          </a:p>
          <a:p>
            <a:pPr>
              <a:spcAft>
                <a:spcPts val="400"/>
              </a:spcAft>
              <a:defRPr sz="1600"/>
            </a:pPr>
            <a:r>
              <a:t>the product</a:t>
            </a:r>
          </a:p>
          <a:p>
            <a:pPr>
              <a:spcAft>
                <a:spcPts val="400"/>
              </a:spcAft>
              <a:defRPr sz="1600"/>
            </a:pPr>
            <a:r>
              <a:t>i/j</a:t>
            </a:r>
          </a:p>
          <a:p>
            <a:pPr>
              <a:spcAft>
                <a:spcPts val="400"/>
              </a:spcAft>
              <a:defRPr sz="1600"/>
            </a:pPr>
            <a:r>
              <a:t>division</a:t>
            </a:r>
          </a:p>
          <a:p>
            <a:pPr>
              <a:spcAft>
                <a:spcPts val="400"/>
              </a:spcAft>
              <a:defRPr sz="1600"/>
            </a:pPr>
            <a:r>
              <a:t>i%j</a:t>
            </a:r>
          </a:p>
          <a:p>
            <a:pPr>
              <a:spcAft>
                <a:spcPts val="400"/>
              </a:spcAft>
              <a:defRPr sz="1600"/>
            </a:pPr>
            <a:r>
              <a:t>the remainder when i is divided by j</a:t>
            </a:r>
          </a:p>
          <a:p>
            <a:pPr>
              <a:spcAft>
                <a:spcPts val="400"/>
              </a:spcAft>
              <a:defRPr sz="1600"/>
            </a:pPr>
            <a:r>
              <a:t>i**j i to the power of j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29</a:t>
            </a:r>
          </a:p>
          <a:p>
            <a:pPr>
              <a:spcAft>
                <a:spcPts val="400"/>
              </a:spcAft>
              <a:defRPr sz="1600"/>
            </a:pPr>
            <a:r>
              <a:t>if both are ints, result is int</a:t>
            </a:r>
          </a:p>
          <a:p>
            <a:pPr>
              <a:spcAft>
                <a:spcPts val="400"/>
              </a:spcAft>
              <a:defRPr sz="1600"/>
            </a:pPr>
            <a:r>
              <a:t>if either or both are floats, result is float</a:t>
            </a:r>
          </a:p>
          <a:p>
            <a:pPr>
              <a:spcAft>
                <a:spcPts val="400"/>
              </a:spcAft>
              <a:defRPr sz="1600"/>
            </a:pPr>
            <a:r>
              <a:t>result is float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SIMPLE OPERATIONS</a:t>
            </a:r>
          </a:p>
          <a:p>
            <a:pPr>
              <a:spcAft>
                <a:spcPts val="400"/>
              </a:spcAft>
              <a:defRPr sz="1600"/>
            </a:pPr>
            <a:r>
              <a:t>parentheses used to tell Python to do these</a:t>
            </a:r>
          </a:p>
          <a:p>
            <a:pPr>
              <a:spcAft>
                <a:spcPts val="400"/>
              </a:spcAft>
              <a:defRPr sz="1600"/>
            </a:pPr>
            <a:r>
              <a:t>operations first</a:t>
            </a:r>
          </a:p>
          <a:p>
            <a:pPr>
              <a:spcAft>
                <a:spcPts val="400"/>
              </a:spcAft>
              <a:defRPr sz="1600"/>
            </a:pPr>
            <a:r>
              <a:t>operator precedence without parentheses</a:t>
            </a:r>
          </a:p>
          <a:p>
            <a:pPr>
              <a:spcAft>
                <a:spcPts val="400"/>
              </a:spcAft>
              <a:defRPr sz="1600"/>
            </a:pPr>
            <a:r>
              <a:t>◦**</a:t>
            </a:r>
          </a:p>
          <a:p>
            <a:pPr>
              <a:spcAft>
                <a:spcPts val="400"/>
              </a:spcAft>
              <a:defRPr sz="1600"/>
            </a:pPr>
            <a:r>
              <a:t>◦*</a:t>
            </a:r>
          </a:p>
          <a:p>
            <a:pPr>
              <a:spcAft>
                <a:spcPts val="400"/>
              </a:spcAft>
              <a:defRPr sz="1600"/>
            </a:pPr>
            <a:r>
              <a:t>◦/</a:t>
            </a:r>
          </a:p>
          <a:p>
            <a:pPr>
              <a:spcAft>
                <a:spcPts val="400"/>
              </a:spcAft>
              <a:defRPr sz="1600"/>
            </a:pPr>
            <a:r>
              <a:t>◦+ and – executed left to right, as appear in expression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BINDING VARIABLES AND</a:t>
            </a:r>
          </a:p>
          <a:p>
            <a:pPr>
              <a:spcAft>
                <a:spcPts val="400"/>
              </a:spcAft>
              <a:defRPr sz="1600"/>
            </a:pPr>
            <a:r>
              <a:t>VALUES</a:t>
            </a:r>
          </a:p>
          <a:p>
            <a:pPr>
              <a:spcAft>
                <a:spcPts val="400"/>
              </a:spcAft>
              <a:defRPr sz="1600"/>
            </a:pPr>
            <a:r>
              <a:t>equal sign is an assignment of a value to a variable</a:t>
            </a:r>
          </a:p>
          <a:p>
            <a:pPr>
              <a:spcAft>
                <a:spcPts val="400"/>
              </a:spcAft>
              <a:defRPr sz="1600"/>
            </a:pPr>
            <a:r>
              <a:t>name</a:t>
            </a:r>
          </a:p>
          <a:p>
            <a:pPr>
              <a:spcAft>
                <a:spcPts val="400"/>
              </a:spcAft>
              <a:defRPr sz="1600"/>
            </a:pPr>
            <a:r>
              <a:t>pi = 3.14159</a:t>
            </a:r>
          </a:p>
          <a:p>
            <a:pPr>
              <a:spcAft>
                <a:spcPts val="400"/>
              </a:spcAft>
              <a:defRPr sz="1600"/>
            </a:pPr>
            <a:r>
              <a:t>pi_approx = 22/7</a:t>
            </a:r>
          </a:p>
          <a:p>
            <a:pPr>
              <a:spcAft>
                <a:spcPts val="400"/>
              </a:spcAft>
              <a:defRPr sz="1600"/>
            </a:pPr>
            <a:r>
              <a:t>value stored in computer memory</a:t>
            </a:r>
          </a:p>
          <a:p>
            <a:pPr>
              <a:spcAft>
                <a:spcPts val="400"/>
              </a:spcAft>
              <a:defRPr sz="1600"/>
            </a:pPr>
            <a:r>
              <a:t>an assignment binds name to value</a:t>
            </a:r>
          </a:p>
          <a:p>
            <a:pPr>
              <a:spcAft>
                <a:spcPts val="400"/>
              </a:spcAft>
              <a:defRPr sz="1600"/>
            </a:pPr>
            <a:r>
              <a:t>retrieve value associated with name or variable by</a:t>
            </a:r>
          </a:p>
          <a:p>
            <a:pPr>
              <a:spcAft>
                <a:spcPts val="400"/>
              </a:spcAft>
              <a:defRPr sz="1600"/>
            </a:pPr>
            <a:r>
              <a:t>invoking the name, by typing pi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ABSTRACTING EXPRESSIONS</a:t>
            </a:r>
          </a:p>
          <a:p>
            <a:pPr>
              <a:spcAft>
                <a:spcPts val="400"/>
              </a:spcAft>
              <a:defRPr sz="1600"/>
            </a:pPr>
            <a:r>
              <a:t>why give names to values of expressions?</a:t>
            </a:r>
          </a:p>
          <a:p>
            <a:pPr>
              <a:spcAft>
                <a:spcPts val="400"/>
              </a:spcAft>
              <a:defRPr sz="1600"/>
            </a:pPr>
            <a:r>
              <a:t>to reuse names instead of values</a:t>
            </a:r>
          </a:p>
          <a:p>
            <a:pPr>
              <a:spcAft>
                <a:spcPts val="400"/>
              </a:spcAft>
              <a:defRPr sz="1600"/>
            </a:pPr>
            <a:r>
              <a:t>easier to change code later</a:t>
            </a:r>
          </a:p>
          <a:p>
            <a:pPr>
              <a:spcAft>
                <a:spcPts val="400"/>
              </a:spcAft>
              <a:defRPr sz="1600"/>
            </a:pPr>
            <a:r>
              <a:t>pi = 3.14159</a:t>
            </a:r>
          </a:p>
          <a:p>
            <a:pPr>
              <a:spcAft>
                <a:spcPts val="400"/>
              </a:spcAft>
              <a:defRPr sz="1600"/>
            </a:pPr>
            <a:r>
              <a:t>radius = 2.2</a:t>
            </a:r>
          </a:p>
          <a:p>
            <a:pPr>
              <a:spcAft>
                <a:spcPts val="400"/>
              </a:spcAft>
              <a:defRPr sz="1600"/>
            </a:pPr>
            <a:r>
              <a:t>area = pi*(radius**2)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PROGRAMMING vs MATH</a:t>
            </a:r>
          </a:p>
          <a:p>
            <a:pPr>
              <a:spcAft>
                <a:spcPts val="400"/>
              </a:spcAft>
              <a:defRPr sz="1600"/>
            </a:pPr>
            <a:r>
              <a:t>in programming, you do not “solve for x”</a:t>
            </a:r>
          </a:p>
          <a:p>
            <a:pPr>
              <a:spcAft>
                <a:spcPts val="400"/>
              </a:spcAft>
              <a:defRPr sz="1600"/>
            </a:pPr>
            <a:r>
              <a:t>pi = 3.14159</a:t>
            </a:r>
          </a:p>
          <a:p>
            <a:pPr>
              <a:spcAft>
                <a:spcPts val="400"/>
              </a:spcAft>
              <a:defRPr sz="1600"/>
            </a:pPr>
            <a:r>
              <a:t>radius = 2.2</a:t>
            </a:r>
          </a:p>
          <a:p>
            <a:pPr>
              <a:spcAft>
                <a:spcPts val="400"/>
              </a:spcAft>
              <a:defRPr sz="1600"/>
            </a:pPr>
            <a:r>
              <a:t># area of circle</a:t>
            </a:r>
          </a:p>
          <a:p>
            <a:pPr>
              <a:spcAft>
                <a:spcPts val="400"/>
              </a:spcAft>
              <a:defRPr sz="1600"/>
            </a:pPr>
            <a:r>
              <a:t>area = pi*(radius**2)</a:t>
            </a:r>
          </a:p>
          <a:p>
            <a:pPr>
              <a:spcAft>
                <a:spcPts val="400"/>
              </a:spcAft>
              <a:defRPr sz="1600"/>
            </a:pPr>
            <a:r>
              <a:t>radius = radius+1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CHANGING BINDINGS</a:t>
            </a:r>
          </a:p>
          <a:p>
            <a:pPr>
              <a:spcAft>
                <a:spcPts val="400"/>
              </a:spcAft>
              <a:defRPr sz="1600"/>
            </a:pPr>
            <a:r>
              <a:t>can re-bind variable names using new assignment</a:t>
            </a:r>
          </a:p>
          <a:p>
            <a:pPr>
              <a:spcAft>
                <a:spcPts val="400"/>
              </a:spcAft>
              <a:defRPr sz="1600"/>
            </a:pPr>
            <a:r>
              <a:t>statements</a:t>
            </a:r>
          </a:p>
          <a:p>
            <a:pPr>
              <a:spcAft>
                <a:spcPts val="400"/>
              </a:spcAft>
              <a:defRPr sz="1600"/>
            </a:pPr>
            <a:r>
              <a:t>previous value may still stored in memory but lost the</a:t>
            </a:r>
          </a:p>
          <a:p>
            <a:pPr>
              <a:spcAft>
                <a:spcPts val="400"/>
              </a:spcAft>
              <a:defRPr sz="1600"/>
            </a:pPr>
            <a:r>
              <a:t>handle for it</a:t>
            </a:r>
          </a:p>
          <a:p>
            <a:pPr>
              <a:spcAft>
                <a:spcPts val="400"/>
              </a:spcAft>
              <a:defRPr sz="1600"/>
            </a:pPr>
            <a:r>
              <a:t>value for area does not change until you tell the</a:t>
            </a:r>
          </a:p>
          <a:p>
            <a:pPr>
              <a:spcAft>
                <a:spcPts val="400"/>
              </a:spcAft>
              <a:defRPr sz="1600"/>
            </a:pPr>
            <a:r>
              <a:t>computer to do the calculation again</a:t>
            </a:r>
          </a:p>
          <a:p>
            <a:pPr>
              <a:spcAft>
                <a:spcPts val="400"/>
              </a:spcAft>
              <a:defRPr sz="1600"/>
            </a:pPr>
            <a:r>
              <a:t>6.0001 LECTURE 1</a:t>
            </a:r>
          </a:p>
          <a:p>
            <a:pPr>
              <a:spcAft>
                <a:spcPts val="400"/>
              </a:spcAft>
              <a:defRPr sz="1600"/>
            </a:pPr>
            <a:r>
              <a:t>34</a:t>
            </a:r>
          </a:p>
          <a:p>
            <a:pPr>
              <a:spcAft>
                <a:spcPts val="400"/>
              </a:spcAft>
              <a:defRPr sz="1600"/>
            </a:pPr>
            <a:r>
              <a:t>pi</a:t>
            </a:r>
          </a:p>
          <a:p>
            <a:pPr>
              <a:spcAft>
                <a:spcPts val="400"/>
              </a:spcAft>
              <a:defRPr sz="1600"/>
            </a:pPr>
            <a:r>
              <a:t>radius</a:t>
            </a:r>
          </a:p>
          <a:p>
            <a:pPr>
              <a:spcAft>
                <a:spcPts val="400"/>
              </a:spcAft>
              <a:defRPr sz="1600"/>
            </a:pPr>
            <a:r>
              <a:t>area</a:t>
            </a:r>
          </a:p>
          <a:p>
            <a:pPr>
              <a:spcAft>
                <a:spcPts val="400"/>
              </a:spcAft>
              <a:defRPr sz="1600"/>
            </a:pPr>
            <a:r>
              <a:t>3.14</a:t>
            </a:r>
          </a:p>
          <a:p>
            <a:pPr>
              <a:spcAft>
                <a:spcPts val="400"/>
              </a:spcAft>
              <a:defRPr sz="1600"/>
            </a:pPr>
            <a:r>
              <a:t>2.2</a:t>
            </a:r>
          </a:p>
          <a:p>
            <a:pPr>
              <a:spcAft>
                <a:spcPts val="400"/>
              </a:spcAft>
              <a:defRPr sz="1600"/>
            </a:pPr>
            <a:r>
              <a:t>15.1976</a:t>
            </a:r>
          </a:p>
          <a:p>
            <a:pPr>
              <a:spcAft>
                <a:spcPts val="400"/>
              </a:spcAft>
              <a:defRPr sz="1600"/>
            </a:pPr>
            <a:r>
              <a:t>3.2</a:t>
            </a:r>
          </a:p>
          <a:p>
            <a:pPr>
              <a:spcAft>
                <a:spcPts val="400"/>
              </a:spcAft>
              <a:defRPr sz="1600"/>
            </a:pPr>
            <a:r>
              <a:t>pi = 3.14</a:t>
            </a:r>
          </a:p>
          <a:p>
            <a:pPr>
              <a:spcAft>
                <a:spcPts val="400"/>
              </a:spcAft>
              <a:defRPr sz="1600"/>
            </a:pPr>
            <a:r>
              <a:t>radius = 2.2</a:t>
            </a:r>
          </a:p>
          <a:p>
            <a:pPr>
              <a:spcAft>
                <a:spcPts val="400"/>
              </a:spcAft>
              <a:defRPr sz="1600"/>
            </a:pPr>
            <a:r>
              <a:t>area = pi*(radius**2)</a:t>
            </a:r>
          </a:p>
          <a:p>
            <a:pPr>
              <a:spcAft>
                <a:spcPts val="400"/>
              </a:spcAft>
              <a:defRPr sz="1600"/>
            </a:pPr>
            <a:r>
              <a:t>radius = radius+1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MIT OpenCourseWare</a:t>
            </a:r>
          </a:p>
          <a:p>
            <a:pPr>
              <a:spcAft>
                <a:spcPts val="400"/>
              </a:spcAft>
              <a:defRPr sz="1600"/>
            </a:pPr>
            <a:r>
              <a:t>https://ocw.mit.edu</a:t>
            </a:r>
          </a:p>
          <a:p>
            <a:pPr>
              <a:spcAft>
                <a:spcPts val="400"/>
              </a:spcAft>
              <a:defRPr sz="1600"/>
            </a:pPr>
            <a:r>
              <a:t>6.0001 Introduction to Computer Science and Programming in Python</a:t>
            </a:r>
          </a:p>
          <a:p>
            <a:pPr>
              <a:spcAft>
                <a:spcPts val="400"/>
              </a:spcAft>
              <a:defRPr sz="1600"/>
            </a:pPr>
            <a:r>
              <a:t>Fall  2016</a:t>
            </a:r>
          </a:p>
          <a:p>
            <a:pPr>
              <a:spcAft>
                <a:spcPts val="400"/>
              </a:spcAft>
              <a:defRPr sz="1600"/>
            </a:pPr>
            <a:r>
              <a:t>For information about citing these materials or our Terms of Use, visit: https:/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